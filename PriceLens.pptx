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31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0" y="640080"/>
            <a:ext cx="1143000" cy="1143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0" y="658368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PriceLens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Price Comparison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315468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Amazon  ·  AliExpress  ·  eBay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Web Services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01  /  Homepage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Homepage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Clean interface for entering a product name and selecting currency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02  /  Start Searching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Before 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Start Searching message appears when the site first loads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03  /  Search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Search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Products appear from Amazon, AliExpress, and eBay simultaneously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04  /  Currency Select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Currency Selection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User selects currency from USD / ILS / 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05  /  USD Prices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Prices in USD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Prices are displayed in US dollars by default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06  /  ILS Prices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Prices in ILS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After changing currency — prices convert automatically without re-searching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07  /  Spell 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Spell Check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When a wrong product name is typed — a confirmation dialog shows the correct name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08  /  Postman — GET Request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GET Request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GET http://127.0.0.1:8000/products?search=ipad — main endpoint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09  /  Postman — Amazon Response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Amazon Response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JSON response from Amazon — status: OK with product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10  /  Postman — AliExpress Response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AliExpress Response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JSON response from AliExpress — 200 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11  /  Postman — Preview Mode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Preview Mode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Structured response view — status: OK, request_id, and data fields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12  /  Postman — AliExpress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AliExpress Status Details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Response details — code: 200, executionTime, and apiVersion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463040"/>
            <a:ext cx="71323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627E2D-8A00-2CFB-861A-9FB64E6E0846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731B11-D88E-0774-2C44-FB7AF1B8006E}"/>
              </a:ext>
            </a:extLst>
          </p:cNvPr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  /  Service Providers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51D7FC-DC01-CBE4-CDE9-3145575FC20B}"/>
              </a:ext>
            </a:extLst>
          </p:cNvPr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85598A-7D1D-C43A-EC6E-97F6A2447536}"/>
              </a:ext>
            </a:extLst>
          </p:cNvPr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Service Providers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7F5B34-EA82-BE88-587A-876B5C64BA55}"/>
              </a:ext>
            </a:extLst>
          </p:cNvPr>
          <p:cNvSpPr/>
          <p:nvPr/>
        </p:nvSpPr>
        <p:spPr>
          <a:xfrm>
            <a:off x="91440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External APIs powering PriceLens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16B0A6-3873-FC4A-7E06-4C21D560CEC8}"/>
              </a:ext>
            </a:extLst>
          </p:cNvPr>
          <p:cNvSpPr/>
          <p:nvPr/>
        </p:nvSpPr>
        <p:spPr>
          <a:xfrm>
            <a:off x="457200" y="141732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69A97C-749B-5DA0-62D2-F2C6ACE906C8}"/>
              </a:ext>
            </a:extLst>
          </p:cNvPr>
          <p:cNvSpPr/>
          <p:nvPr/>
        </p:nvSpPr>
        <p:spPr>
          <a:xfrm>
            <a:off x="457200" y="141732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9E0612-44BB-B19F-91F0-B2CA176A17F1}"/>
              </a:ext>
            </a:extLst>
          </p:cNvPr>
          <p:cNvSpPr/>
          <p:nvPr/>
        </p:nvSpPr>
        <p:spPr>
          <a:xfrm>
            <a:off x="65836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1 — Amazon (via RapidAPI)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B329E6-AE69-2D71-1083-9B9DB3D335AF}"/>
              </a:ext>
            </a:extLst>
          </p:cNvPr>
          <p:cNvSpPr/>
          <p:nvPr/>
        </p:nvSpPr>
        <p:spPr>
          <a:xfrm>
            <a:off x="658368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</a:rPr>
              <a:t>PURPOSE: </a:t>
            </a:r>
            <a:r>
              <a:rPr lang="en-US" sz="950" dirty="0">
                <a:solidFill>
                  <a:srgbClr val="64748B"/>
                </a:solidFill>
              </a:rPr>
              <a:t>Product listings &amp; pricing data
</a:t>
            </a:r>
            <a:r>
              <a:rPr lang="en-US" sz="950" b="1" dirty="0">
                <a:solidFill>
                  <a:srgbClr val="3B82F6"/>
                </a:solidFill>
              </a:rPr>
              <a:t>BASE URL: </a:t>
            </a:r>
            <a:r>
              <a:rPr lang="en-US" sz="950" dirty="0">
                <a:solidFill>
                  <a:srgbClr val="64748B"/>
                </a:solidFill>
              </a:rPr>
              <a:t>real-time-amazon-data.p.rapidapi.com
</a:t>
            </a:r>
            <a:r>
              <a:rPr lang="en-US" sz="950" b="1" dirty="0">
                <a:solidFill>
                  <a:srgbClr val="3B82F6"/>
                </a:solidFill>
              </a:rPr>
              <a:t>AUTH: </a:t>
            </a:r>
            <a:r>
              <a:rPr lang="en-US" sz="950" dirty="0">
                <a:solidFill>
                  <a:srgbClr val="64748B"/>
                </a:solidFill>
              </a:rPr>
              <a:t>x-rapidapi-key header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4250455-528F-49E6-2E97-B4179C0D9ABA}"/>
              </a:ext>
            </a:extLst>
          </p:cNvPr>
          <p:cNvSpPr/>
          <p:nvPr/>
        </p:nvSpPr>
        <p:spPr>
          <a:xfrm>
            <a:off x="4846320" y="141732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B5E33AE-ED0D-2E00-BA75-50B2B0DC095D}"/>
              </a:ext>
            </a:extLst>
          </p:cNvPr>
          <p:cNvSpPr/>
          <p:nvPr/>
        </p:nvSpPr>
        <p:spPr>
          <a:xfrm>
            <a:off x="4846320" y="1417320"/>
            <a:ext cx="64008" cy="1600200"/>
          </a:xfrm>
          <a:prstGeom prst="rect">
            <a:avLst/>
          </a:prstGeom>
          <a:solidFill>
            <a:srgbClr val="E62E04"/>
          </a:solidFill>
          <a:ln w="12700">
            <a:solidFill>
              <a:srgbClr val="E62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21DB58-DE3F-853A-C222-6B75918FBE07}"/>
              </a:ext>
            </a:extLst>
          </p:cNvPr>
          <p:cNvSpPr/>
          <p:nvPr/>
        </p:nvSpPr>
        <p:spPr>
          <a:xfrm>
            <a:off x="504748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2 — AliExpress (via RapidAPI)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D27BBF-D4BF-2647-6BF4-FFF5735E9959}"/>
              </a:ext>
            </a:extLst>
          </p:cNvPr>
          <p:cNvSpPr/>
          <p:nvPr/>
        </p:nvSpPr>
        <p:spPr>
          <a:xfrm>
            <a:off x="5047488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62E04"/>
                </a:solidFill>
              </a:rPr>
              <a:t>PURPOSE: </a:t>
            </a:r>
            <a:r>
              <a:rPr lang="en-US" sz="950" dirty="0">
                <a:solidFill>
                  <a:srgbClr val="64748B"/>
                </a:solidFill>
              </a:rPr>
              <a:t>Product listings from AliExpress
</a:t>
            </a:r>
            <a:r>
              <a:rPr lang="en-US" sz="950" b="1" dirty="0">
                <a:solidFill>
                  <a:srgbClr val="E62E04"/>
                </a:solidFill>
              </a:rPr>
              <a:t>BASE URL: </a:t>
            </a:r>
            <a:r>
              <a:rPr lang="en-US" sz="950" dirty="0">
                <a:solidFill>
                  <a:srgbClr val="64748B"/>
                </a:solidFill>
              </a:rPr>
              <a:t>aliexpress-datahub.p.rapidapi.com
</a:t>
            </a:r>
            <a:r>
              <a:rPr lang="en-US" sz="950" b="1" dirty="0">
                <a:solidFill>
                  <a:srgbClr val="E62E04"/>
                </a:solidFill>
              </a:rPr>
              <a:t>AUTH: </a:t>
            </a:r>
            <a:r>
              <a:rPr lang="en-US" sz="950" dirty="0">
                <a:solidFill>
                  <a:srgbClr val="64748B"/>
                </a:solidFill>
              </a:rPr>
              <a:t>x-rapidapi-key header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88E5E2-3859-7DB1-B059-0C34C445873B}"/>
              </a:ext>
            </a:extLst>
          </p:cNvPr>
          <p:cNvSpPr/>
          <p:nvPr/>
        </p:nvSpPr>
        <p:spPr>
          <a:xfrm>
            <a:off x="457200" y="3154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9449A0-E488-4C65-C7B5-A9BD8DB93D06}"/>
              </a:ext>
            </a:extLst>
          </p:cNvPr>
          <p:cNvSpPr/>
          <p:nvPr/>
        </p:nvSpPr>
        <p:spPr>
          <a:xfrm>
            <a:off x="457200" y="3154680"/>
            <a:ext cx="64008" cy="1600200"/>
          </a:xfrm>
          <a:prstGeom prst="rect">
            <a:avLst/>
          </a:prstGeom>
          <a:solidFill>
            <a:srgbClr val="0064D2"/>
          </a:solidFill>
          <a:ln w="12700">
            <a:solidFill>
              <a:srgbClr val="006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A6743E6-7CDB-0F09-6A0D-D73B776D350D}"/>
              </a:ext>
            </a:extLst>
          </p:cNvPr>
          <p:cNvSpPr/>
          <p:nvPr/>
        </p:nvSpPr>
        <p:spPr>
          <a:xfrm>
            <a:off x="65836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3 — eBay Sandbox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B236CD-09FF-0556-0373-4E11A644629E}"/>
              </a:ext>
            </a:extLst>
          </p:cNvPr>
          <p:cNvSpPr/>
          <p:nvPr/>
        </p:nvSpPr>
        <p:spPr>
          <a:xfrm>
            <a:off x="658368" y="3566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64D2"/>
                </a:solidFill>
              </a:rPr>
              <a:t>PURPOSE: </a:t>
            </a:r>
            <a:r>
              <a:rPr lang="en-US" sz="950" dirty="0">
                <a:solidFill>
                  <a:srgbClr val="64748B"/>
                </a:solidFill>
              </a:rPr>
              <a:t>eBay product listings
</a:t>
            </a:r>
            <a:r>
              <a:rPr lang="en-US" sz="950" b="1" dirty="0">
                <a:solidFill>
                  <a:srgbClr val="0064D2"/>
                </a:solidFill>
              </a:rPr>
              <a:t>BASE URL: </a:t>
            </a:r>
            <a:r>
              <a:rPr lang="en-US" sz="950" dirty="0">
                <a:solidFill>
                  <a:srgbClr val="64748B"/>
                </a:solidFill>
              </a:rPr>
              <a:t>api.sandbox.ebay.com
</a:t>
            </a:r>
            <a:r>
              <a:rPr lang="en-US" sz="950" b="1" dirty="0">
                <a:solidFill>
                  <a:srgbClr val="0064D2"/>
                </a:solidFill>
              </a:rPr>
              <a:t>AUTH: </a:t>
            </a:r>
            <a:r>
              <a:rPr lang="en-US" sz="950" dirty="0">
                <a:solidFill>
                  <a:srgbClr val="64748B"/>
                </a:solidFill>
              </a:rPr>
              <a:t>OAuth 2.0 token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0354542-25EB-2CC5-998E-53144F80B3F6}"/>
              </a:ext>
            </a:extLst>
          </p:cNvPr>
          <p:cNvSpPr/>
          <p:nvPr/>
        </p:nvSpPr>
        <p:spPr>
          <a:xfrm>
            <a:off x="3355848" y="3154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C9BC33E-7FE8-AD24-853D-563167EBD1B8}"/>
              </a:ext>
            </a:extLst>
          </p:cNvPr>
          <p:cNvSpPr/>
          <p:nvPr/>
        </p:nvSpPr>
        <p:spPr>
          <a:xfrm>
            <a:off x="3355848" y="315468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C86DDD1-4071-8181-13DF-F5F8F576229B}"/>
              </a:ext>
            </a:extLst>
          </p:cNvPr>
          <p:cNvSpPr/>
          <p:nvPr/>
        </p:nvSpPr>
        <p:spPr>
          <a:xfrm>
            <a:off x="3557016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4 — Frankfurter API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32BF275-D58B-3305-E766-1E230D590D71}"/>
              </a:ext>
            </a:extLst>
          </p:cNvPr>
          <p:cNvSpPr/>
          <p:nvPr/>
        </p:nvSpPr>
        <p:spPr>
          <a:xfrm>
            <a:off x="3557016" y="3566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</a:rPr>
              <a:t>PURPOSE: </a:t>
            </a:r>
            <a:r>
              <a:rPr lang="en-US" sz="950" dirty="0">
                <a:solidFill>
                  <a:srgbClr val="64748B"/>
                </a:solidFill>
              </a:rPr>
              <a:t>Currency conversion
</a:t>
            </a:r>
            <a:r>
              <a:rPr lang="en-US" sz="950" b="1" dirty="0">
                <a:solidFill>
                  <a:srgbClr val="10B981"/>
                </a:solidFill>
              </a:rPr>
              <a:t>BASE URL: </a:t>
            </a:r>
            <a:r>
              <a:rPr lang="en-US" sz="950" dirty="0">
                <a:solidFill>
                  <a:srgbClr val="64748B"/>
                </a:solidFill>
              </a:rPr>
              <a:t>api.frankfurter.dev
</a:t>
            </a:r>
            <a:r>
              <a:rPr lang="en-US" sz="950" b="1" dirty="0">
                <a:solidFill>
                  <a:srgbClr val="10B981"/>
                </a:solidFill>
              </a:rPr>
              <a:t>AUTH: </a:t>
            </a:r>
            <a:r>
              <a:rPr lang="en-US" sz="950" dirty="0">
                <a:solidFill>
                  <a:srgbClr val="64748B"/>
                </a:solidFill>
              </a:rPr>
              <a:t>None — Free public API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238924B-02D8-09BD-8F20-B32749BBB9AC}"/>
              </a:ext>
            </a:extLst>
          </p:cNvPr>
          <p:cNvSpPr/>
          <p:nvPr/>
        </p:nvSpPr>
        <p:spPr>
          <a:xfrm>
            <a:off x="6263640" y="3154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8106172-5C62-17D2-5488-D3F35B3572A0}"/>
              </a:ext>
            </a:extLst>
          </p:cNvPr>
          <p:cNvSpPr/>
          <p:nvPr/>
        </p:nvSpPr>
        <p:spPr>
          <a:xfrm>
            <a:off x="6263640" y="3154680"/>
            <a:ext cx="64008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559231-85F2-7AD7-3D51-6AA0404B3E52}"/>
              </a:ext>
            </a:extLst>
          </p:cNvPr>
          <p:cNvSpPr/>
          <p:nvPr/>
        </p:nvSpPr>
        <p:spPr>
          <a:xfrm>
            <a:off x="646480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5 — LanguageTool API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7DA4D62-876A-EE5D-96E4-1C439308CF88}"/>
              </a:ext>
            </a:extLst>
          </p:cNvPr>
          <p:cNvSpPr/>
          <p:nvPr/>
        </p:nvSpPr>
        <p:spPr>
          <a:xfrm>
            <a:off x="6464808" y="3566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</a:rPr>
              <a:t>PURPOSE: </a:t>
            </a:r>
            <a:r>
              <a:rPr lang="en-US" sz="950" dirty="0">
                <a:solidFill>
                  <a:srgbClr val="64748B"/>
                </a:solidFill>
              </a:rPr>
              <a:t>Spell check &amp; correction
</a:t>
            </a:r>
            <a:r>
              <a:rPr lang="en-US" sz="950" b="1" dirty="0">
                <a:solidFill>
                  <a:srgbClr val="8B5CF6"/>
                </a:solidFill>
              </a:rPr>
              <a:t>BASE URL: </a:t>
            </a:r>
            <a:r>
              <a:rPr lang="en-US" sz="950" dirty="0">
                <a:solidFill>
                  <a:srgbClr val="64748B"/>
                </a:solidFill>
              </a:rPr>
              <a:t>api.languagetool.org
</a:t>
            </a:r>
            <a:r>
              <a:rPr lang="en-US" sz="950" b="1" dirty="0">
                <a:solidFill>
                  <a:srgbClr val="8B5CF6"/>
                </a:solidFill>
              </a:rPr>
              <a:t>AUTH: </a:t>
            </a:r>
            <a:r>
              <a:rPr lang="en-US" sz="950" dirty="0">
                <a:solidFill>
                  <a:srgbClr val="64748B"/>
                </a:solidFill>
              </a:rPr>
              <a:t>None — Free public API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91932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CF48ED-95F2-52AE-C2DB-F69E16F8D0F3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B5C7D7-8118-6DB5-0815-AE590AEDAAE5}"/>
              </a:ext>
            </a:extLst>
          </p:cNvPr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  /  API Request Structure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284CB8-1E54-73C9-07CA-5A5628BA633E}"/>
              </a:ext>
            </a:extLst>
          </p:cNvPr>
          <p:cNvSpPr/>
          <p:nvPr/>
        </p:nvSpPr>
        <p:spPr>
          <a:xfrm>
            <a:off x="6400800" y="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PriceLens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C8FB41-31E1-BF22-0FB5-9BA22F72C239}"/>
              </a:ext>
            </a:extLst>
          </p:cNvPr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Request Structure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3BFB3A-6F9B-EE64-6643-330B9AE75982}"/>
              </a:ext>
            </a:extLst>
          </p:cNvPr>
          <p:cNvSpPr/>
          <p:nvPr/>
        </p:nvSpPr>
        <p:spPr>
          <a:xfrm>
            <a:off x="91440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Example: Product Search Endpoint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62CC142-8581-6DF6-CAC8-9876B26540D3}"/>
              </a:ext>
            </a:extLst>
          </p:cNvPr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84BCE8-E026-C1C4-9470-24A3574BD897}"/>
              </a:ext>
            </a:extLst>
          </p:cNvPr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http://</a:t>
            </a:r>
            <a:r>
              <a:rPr lang="en-US" sz="1800" b="1" dirty="0">
                <a:solidFill>
                  <a:srgbClr val="FFFFFF"/>
                </a:solidFill>
              </a:rPr>
              <a:t>127.0.0.1:8000</a:t>
            </a:r>
            <a:r>
              <a:rPr lang="en-US" sz="1800" b="1" dirty="0">
                <a:solidFill>
                  <a:srgbClr val="10B981"/>
                </a:solidFill>
              </a:rPr>
              <a:t>/products</a:t>
            </a:r>
            <a:r>
              <a:rPr lang="en-US" sz="1800" b="1" dirty="0">
                <a:solidFill>
                  <a:srgbClr val="94A3B8"/>
                </a:solidFill>
              </a:rPr>
              <a:t>?</a:t>
            </a:r>
            <a:r>
              <a:rPr lang="en-US" sz="1800" b="1" dirty="0">
                <a:solidFill>
                  <a:srgbClr val="F97316"/>
                </a:solidFill>
              </a:rPr>
              <a:t>search</a:t>
            </a:r>
            <a:r>
              <a:rPr lang="en-US" sz="1800" dirty="0">
                <a:solidFill>
                  <a:srgbClr val="94A3B8"/>
                </a:solidFill>
              </a:rPr>
              <a:t>=</a:t>
            </a:r>
            <a:r>
              <a:rPr lang="en-US" sz="1800" b="1" dirty="0">
                <a:solidFill>
                  <a:srgbClr val="3B82F6"/>
                </a:solidFill>
              </a:rPr>
              <a:t>ipad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F50E86-F1F8-11E2-568A-9CED73F88A9D}"/>
              </a:ext>
            </a:extLst>
          </p:cNvPr>
          <p:cNvSpPr/>
          <p:nvPr/>
        </p:nvSpPr>
        <p:spPr>
          <a:xfrm>
            <a:off x="7315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PROTOCOL</a:t>
            </a:r>
            <a:endParaRPr lang="en-US" sz="8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8355FD-17BD-6220-D667-2DDF5896EC50}"/>
              </a:ext>
            </a:extLst>
          </p:cNvPr>
          <p:cNvSpPr/>
          <p:nvPr/>
        </p:nvSpPr>
        <p:spPr>
          <a:xfrm>
            <a:off x="21031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BASE URL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API SERVER ADDRESS</a:t>
            </a:r>
            <a:endParaRPr lang="en-US" sz="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27A543-9C24-A15D-5072-916FD7B3EEE3}"/>
              </a:ext>
            </a:extLst>
          </p:cNvPr>
          <p:cNvSpPr/>
          <p:nvPr/>
        </p:nvSpPr>
        <p:spPr>
          <a:xfrm>
            <a:off x="41605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PATH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RESOURCE ENDPOINT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CE2303-52FA-ADFC-45FB-559E8431A32E}"/>
              </a:ext>
            </a:extLst>
          </p:cNvPr>
          <p:cNvSpPr/>
          <p:nvPr/>
        </p:nvSpPr>
        <p:spPr>
          <a:xfrm>
            <a:off x="630936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</a:rPr>
              <a:t>QUERY PARAMS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</a:rPr>
              <a:t>FILTERS &amp; OPTIONS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6DF9C65-5DDB-08D3-A0E5-1493947C475F}"/>
              </a:ext>
            </a:extLst>
          </p:cNvPr>
          <p:cNvSpPr/>
          <p:nvPr/>
        </p:nvSpPr>
        <p:spPr>
          <a:xfrm>
            <a:off x="457200" y="2743200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C2971B3-9A54-2DDA-A45A-3DB78615C7CA}"/>
              </a:ext>
            </a:extLst>
          </p:cNvPr>
          <p:cNvSpPr/>
          <p:nvPr/>
        </p:nvSpPr>
        <p:spPr>
          <a:xfrm>
            <a:off x="457200" y="2743200"/>
            <a:ext cx="64008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0C578C-BF69-51C8-0351-77664570230D}"/>
              </a:ext>
            </a:extLst>
          </p:cNvPr>
          <p:cNvSpPr/>
          <p:nvPr/>
        </p:nvSpPr>
        <p:spPr>
          <a:xfrm>
            <a:off x="658368" y="2788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Amazon Search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736A64-D7F3-5644-40B9-B13EDE779138}"/>
              </a:ext>
            </a:extLst>
          </p:cNvPr>
          <p:cNvSpPr/>
          <p:nvPr/>
        </p:nvSpPr>
        <p:spPr>
          <a:xfrm>
            <a:off x="658368" y="29992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9900"/>
                </a:solidFill>
              </a:rPr>
              <a:t>GET  real-time-amazon-data.p.rapidapi.com/search</a:t>
            </a:r>
            <a:endParaRPr lang="en-US" sz="8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9488F89-3345-0824-39B4-FDB9E2AE810D}"/>
              </a:ext>
            </a:extLst>
          </p:cNvPr>
          <p:cNvSpPr/>
          <p:nvPr/>
        </p:nvSpPr>
        <p:spPr>
          <a:xfrm>
            <a:off x="658368" y="31729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</a:rPr>
              <a:t>?query=ipad&amp;page=1&amp;country=US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B8AFEEC-C878-3C12-B6D4-287EC11421EA}"/>
              </a:ext>
            </a:extLst>
          </p:cNvPr>
          <p:cNvSpPr/>
          <p:nvPr/>
        </p:nvSpPr>
        <p:spPr>
          <a:xfrm>
            <a:off x="5760720" y="2788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AUTH: Header: x-rapidapi-key: {API_KEY}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8594FB-0E5F-8009-EF7D-C66171F83534}"/>
              </a:ext>
            </a:extLst>
          </p:cNvPr>
          <p:cNvSpPr/>
          <p:nvPr/>
        </p:nvSpPr>
        <p:spPr>
          <a:xfrm>
            <a:off x="576072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</a:rPr>
              <a:t>↩ JSON — products array with title, price, rating, image</a:t>
            </a:r>
            <a:endParaRPr lang="en-US" sz="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897655B-509F-C85C-5AFD-526644AD3639}"/>
              </a:ext>
            </a:extLst>
          </p:cNvPr>
          <p:cNvSpPr/>
          <p:nvPr/>
        </p:nvSpPr>
        <p:spPr>
          <a:xfrm>
            <a:off x="457200" y="3493008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F982D79-7BBC-7878-DC5D-270147AEDBAA}"/>
              </a:ext>
            </a:extLst>
          </p:cNvPr>
          <p:cNvSpPr/>
          <p:nvPr/>
        </p:nvSpPr>
        <p:spPr>
          <a:xfrm>
            <a:off x="457200" y="3493008"/>
            <a:ext cx="64008" cy="658368"/>
          </a:xfrm>
          <a:prstGeom prst="rect">
            <a:avLst/>
          </a:prstGeom>
          <a:solidFill>
            <a:srgbClr val="0064D2"/>
          </a:solidFill>
          <a:ln w="12700">
            <a:solidFill>
              <a:srgbClr val="006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680FF8-7FD9-6F4E-F831-656C060F63A3}"/>
              </a:ext>
            </a:extLst>
          </p:cNvPr>
          <p:cNvSpPr/>
          <p:nvPr/>
        </p:nvSpPr>
        <p:spPr>
          <a:xfrm>
            <a:off x="658368" y="3538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eBay Browse API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7F9F126-B9D9-F65A-818D-3F91B967EB3B}"/>
              </a:ext>
            </a:extLst>
          </p:cNvPr>
          <p:cNvSpPr/>
          <p:nvPr/>
        </p:nvSpPr>
        <p:spPr>
          <a:xfrm>
            <a:off x="658368" y="3749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64D2"/>
                </a:solidFill>
              </a:rPr>
              <a:t>GET  api.sandbox.ebay.com/buy/browse/v1/item_summary/search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5842022-A768-3CCD-9F50-F61F3DCE9BC0}"/>
              </a:ext>
            </a:extLst>
          </p:cNvPr>
          <p:cNvSpPr/>
          <p:nvPr/>
        </p:nvSpPr>
        <p:spPr>
          <a:xfrm>
            <a:off x="658368" y="392277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</a:rPr>
              <a:t>?q=ipad&amp;limit=20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08CC447-3D0C-4583-0158-80D8E9BF053B}"/>
              </a:ext>
            </a:extLst>
          </p:cNvPr>
          <p:cNvSpPr/>
          <p:nvPr/>
        </p:nvSpPr>
        <p:spPr>
          <a:xfrm>
            <a:off x="5760720" y="35387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AUTH: Header: Authorization: Bearer {TOKEN}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E3FD9F9-7CAD-DCEC-9A48-F6CE8BA76C7F}"/>
              </a:ext>
            </a:extLst>
          </p:cNvPr>
          <p:cNvSpPr/>
          <p:nvPr/>
        </p:nvSpPr>
        <p:spPr>
          <a:xfrm>
            <a:off x="5760720" y="38130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</a:rPr>
              <a:t>↩ JSON — itemSummaries array with title, price, image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058C579-A8AF-0089-C0CB-D4890885DAE0}"/>
              </a:ext>
            </a:extLst>
          </p:cNvPr>
          <p:cNvSpPr/>
          <p:nvPr/>
        </p:nvSpPr>
        <p:spPr>
          <a:xfrm>
            <a:off x="457200" y="4242816"/>
            <a:ext cx="8229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1A6DFB6-9BA8-C832-E57A-9EAC60E2C4CB}"/>
              </a:ext>
            </a:extLst>
          </p:cNvPr>
          <p:cNvSpPr/>
          <p:nvPr/>
        </p:nvSpPr>
        <p:spPr>
          <a:xfrm>
            <a:off x="457200" y="4242816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52A2340-FC49-1BE2-8C8D-027EFB7C84CF}"/>
              </a:ext>
            </a:extLst>
          </p:cNvPr>
          <p:cNvSpPr/>
          <p:nvPr/>
        </p:nvSpPr>
        <p:spPr>
          <a:xfrm>
            <a:off x="658368" y="42885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Frankfurter Currency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ED041C-5B89-3FA8-0B77-F4F2870F5CE6}"/>
              </a:ext>
            </a:extLst>
          </p:cNvPr>
          <p:cNvSpPr/>
          <p:nvPr/>
        </p:nvSpPr>
        <p:spPr>
          <a:xfrm>
            <a:off x="658368" y="4498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0B981"/>
                </a:solidFill>
              </a:rPr>
              <a:t>GET  api.frankfurter.dev/v1/latest</a:t>
            </a:r>
            <a:endParaRPr lang="en-US" sz="8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1C0880D-2206-F457-DDE0-6451A8E6514E}"/>
              </a:ext>
            </a:extLst>
          </p:cNvPr>
          <p:cNvSpPr/>
          <p:nvPr/>
        </p:nvSpPr>
        <p:spPr>
          <a:xfrm>
            <a:off x="658368" y="46725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</a:rPr>
              <a:t>?base=USD&amp;symbols=ILS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F2B179B-A732-9BA8-29BF-1F285BD6DC1E}"/>
              </a:ext>
            </a:extLst>
          </p:cNvPr>
          <p:cNvSpPr/>
          <p:nvPr/>
        </p:nvSpPr>
        <p:spPr>
          <a:xfrm>
            <a:off x="5760720" y="428853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AUTH: None required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4542109-4935-FBF1-DC46-ED9E6CC07F63}"/>
              </a:ext>
            </a:extLst>
          </p:cNvPr>
          <p:cNvSpPr/>
          <p:nvPr/>
        </p:nvSpPr>
        <p:spPr>
          <a:xfrm>
            <a:off x="5760720" y="45628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</a:rPr>
              <a:t>↩ JSON — rates object with converted values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34326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0" y="548640"/>
            <a:ext cx="1143000" cy="1143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0" y="566928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Questions &amp;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301752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329184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FastAPI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329184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7764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Vanilla 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329184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github.com/ElyasNajeh/price-comparator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584</Words>
  <Application>Microsoft Office PowerPoint</Application>
  <PresentationFormat>On-screen Show (16:9)</PresentationFormat>
  <Paragraphs>115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Hareth Shoman</cp:lastModifiedBy>
  <cp:revision>2</cp:revision>
  <dcterms:created xsi:type="dcterms:W3CDTF">2026-05-22T13:23:05Z</dcterms:created>
  <dcterms:modified xsi:type="dcterms:W3CDTF">2026-05-22T14:02:27Z</dcterms:modified>
</cp:coreProperties>
</file>